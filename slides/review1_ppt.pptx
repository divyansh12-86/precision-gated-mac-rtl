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Lora" pitchFamily="2" charset="0"/>
      <p:regular r:id="rId9"/>
    </p:embeddedFont>
    <p:embeddedFont>
      <p:font typeface="Source Sans 3" panose="020B0604020202020204" charset="0"/>
      <p:regular r:id="rId10"/>
    </p:embeddedFont>
    <p:embeddedFont>
      <p:font typeface="Source Sans 3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68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98086" y="202386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Precision-Gated Approximate-MAC FIR Filter</a:t>
            </a:r>
            <a:endParaRPr lang="en-US" sz="3650" dirty="0"/>
          </a:p>
        </p:txBody>
      </p:sp>
      <p:sp>
        <p:nvSpPr>
          <p:cNvPr id="5" name="Text 1"/>
          <p:cNvSpPr/>
          <p:nvPr/>
        </p:nvSpPr>
        <p:spPr>
          <a:xfrm>
            <a:off x="698086" y="3276997"/>
            <a:ext cx="6223638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DSP Architecture for Wearable Biomedical Devices</a:t>
            </a:r>
            <a:endParaRPr lang="en-US" sz="2950" dirty="0"/>
          </a:p>
        </p:txBody>
      </p:sp>
      <p:sp>
        <p:nvSpPr>
          <p:cNvPr id="6" name="Text 2"/>
          <p:cNvSpPr/>
          <p:nvPr/>
        </p:nvSpPr>
        <p:spPr>
          <a:xfrm>
            <a:off x="698086" y="4514949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Divyansh Seth | B.Tech EEE | Pre-Final Year Project Review</a:t>
            </a:r>
            <a:endParaRPr lang="en-US" sz="1550" dirty="0"/>
          </a:p>
        </p:txBody>
      </p:sp>
      <p:pic>
        <p:nvPicPr>
          <p:cNvPr id="1026" name="Picture 2" descr="ECGlibrary.com: Normal adult 12-lead ECG">
            <a:extLst>
              <a:ext uri="{FF2B5EF4-FFF2-40B4-BE49-F238E27FC236}">
                <a16:creationId xmlns:a16="http://schemas.microsoft.com/office/drawing/2014/main" id="{0B60B33F-A098-9412-6BF7-E7C0593DD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898" y="405407"/>
            <a:ext cx="4435241" cy="246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STer FPGA Active Y/C Composite and S-Video Adapter w/ Case | eBay">
            <a:extLst>
              <a:ext uri="{FF2B5EF4-FFF2-40B4-BE49-F238E27FC236}">
                <a16:creationId xmlns:a16="http://schemas.microsoft.com/office/drawing/2014/main" id="{BB6A1AD0-D828-3642-0333-F3D60F01A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897" y="3131492"/>
            <a:ext cx="4435241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DCCC9D-1E7B-F858-BDE6-18E250957E05}"/>
              </a:ext>
            </a:extLst>
          </p:cNvPr>
          <p:cNvSpPr/>
          <p:nvPr/>
        </p:nvSpPr>
        <p:spPr>
          <a:xfrm>
            <a:off x="10906125" y="6515100"/>
            <a:ext cx="1200150" cy="26670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0073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Power Problem in Wearable ECG Devices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346101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Wearable ECG devices run on small batteries. Continuous digital signal processing drains power rapidly, limiting clinical utility.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98086" y="1645841"/>
            <a:ext cx="3533290" cy="922834"/>
          </a:xfrm>
          <a:prstGeom prst="roundRect">
            <a:avLst>
              <a:gd name="adj" fmla="val 2270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837683" y="1785441"/>
            <a:ext cx="325409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Power Draw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37683" y="2049463"/>
            <a:ext cx="3254095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Full-precision MACs run continuously, even during low-information baseline intervals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9103" y="1645841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4468701" y="1785441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Battery Constraint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68701" y="2049463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Wearable form factor limits battery size — power budget is severely restricted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60220" y="1645841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8099818" y="1785441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Opportunity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99818" y="2049463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all ECG regions carry equal clinical importance — approximate computing can exploit this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8086" y="2776339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FIR Filter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8086" y="3079452"/>
            <a:ext cx="522740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Finite Impulse Response filter — removes noise from raw ECG signal using weighted sum of past samples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8086" y="3582690"/>
            <a:ext cx="5227408" cy="595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582690"/>
            <a:ext cx="5227408" cy="59501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8086" y="4301331"/>
            <a:ext cx="522740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output sample requires N Multiply-Accumulate (MAC) operations, making the MAC unit the primary source of computational effort in FIR filtering.</a:t>
            </a:r>
            <a:endParaRPr lang="en-US" sz="10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1C364D-EB08-A289-AC9C-69CA38341F4F}"/>
              </a:ext>
            </a:extLst>
          </p:cNvPr>
          <p:cNvGrpSpPr/>
          <p:nvPr/>
        </p:nvGrpSpPr>
        <p:grpSpPr>
          <a:xfrm>
            <a:off x="698086" y="5014714"/>
            <a:ext cx="5227408" cy="682724"/>
            <a:chOff x="6272552" y="2776339"/>
            <a:chExt cx="5227408" cy="682724"/>
          </a:xfrm>
        </p:grpSpPr>
        <p:sp>
          <p:nvSpPr>
            <p:cNvPr id="18" name="Text 15"/>
            <p:cNvSpPr/>
            <p:nvPr/>
          </p:nvSpPr>
          <p:spPr>
            <a:xfrm>
              <a:off x="6272552" y="2776339"/>
              <a:ext cx="5227408" cy="2053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dirty="0">
                  <a:solidFill>
                    <a:srgbClr val="38512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MAC Unit</a:t>
              </a:r>
              <a:endParaRPr lang="en-US" sz="125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272552" y="3079452"/>
              <a:ext cx="5227408" cy="379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sz="1050" dirty="0">
                  <a:solidFill>
                    <a:srgbClr val="3A363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Multiply-Accumulate — the core arithmetic operation inside every FIR filter, executed thousands of times per second</a:t>
              </a:r>
              <a:endParaRPr lang="en-US" sz="1050" dirty="0"/>
            </a:p>
          </p:txBody>
        </p:sp>
      </p:grp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030" y="2878931"/>
            <a:ext cx="5017580" cy="334509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DE305AE-92C5-B653-1A7C-E7B9DB9C94CD}"/>
              </a:ext>
            </a:extLst>
          </p:cNvPr>
          <p:cNvSpPr/>
          <p:nvPr/>
        </p:nvSpPr>
        <p:spPr>
          <a:xfrm>
            <a:off x="10906125" y="6515100"/>
            <a:ext cx="1200150" cy="26670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Proposed Approach: Dynamic Bit-Truncation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54609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core idea is to adapt arithmetic precision based on the clinical importance of the ECG region being processed.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499" y="1564283"/>
            <a:ext cx="4278502" cy="35937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1357" y="1542256"/>
            <a:ext cx="488808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075509" y="3169196"/>
            <a:ext cx="4278503" cy="383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i="1" dirty="0" err="1"/>
              <a:t>A</a:t>
            </a:r>
            <a:r>
              <a:rPr lang="en-US" i="1" baseline="-25000" dirty="0" err="1"/>
              <a:t>approx</a:t>
            </a:r>
            <a:r>
              <a:rPr lang="en-US" i="1" dirty="0"/>
              <a:t> = A &gt;&gt; k</a:t>
            </a:r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6916564" y="3659981"/>
            <a:ext cx="4888088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where k = number of truncated least significant bits (LSBs).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8086" y="5377855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Approximation is enabled only during low-information baseline intervals while full precision is maintained around the QRS complex.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8086" y="5677595"/>
            <a:ext cx="10795524" cy="634901"/>
          </a:xfrm>
          <a:prstGeom prst="roundRect">
            <a:avLst>
              <a:gd name="adj" fmla="val 3299"/>
            </a:avLst>
          </a:prstGeom>
          <a:solidFill>
            <a:srgbClr val="E2ECD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83" y="5856784"/>
            <a:ext cx="174521" cy="139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1802" y="5810151"/>
            <a:ext cx="10202210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ECG baseline between beats carries minimal diagnostic information. Truncating least significant bits (LSBs) introduces only negligible error while significantly reducing switching activity inside the MAC unit.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FE75A0-3F9C-A2D3-F8F4-76F5C3C5CACD}"/>
              </a:ext>
            </a:extLst>
          </p:cNvPr>
          <p:cNvSpPr/>
          <p:nvPr/>
        </p:nvSpPr>
        <p:spPr>
          <a:xfrm>
            <a:off x="10906125" y="6515100"/>
            <a:ext cx="1200150" cy="26670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380"/>
            <a:ext cx="10795524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Planned Hardware Validation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98086" y="955377"/>
            <a:ext cx="10795524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Implementation Plan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64" y="1353939"/>
            <a:ext cx="4065486" cy="221902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236F792-EF51-713A-9615-E78F1739DE47}"/>
              </a:ext>
            </a:extLst>
          </p:cNvPr>
          <p:cNvGrpSpPr/>
          <p:nvPr/>
        </p:nvGrpSpPr>
        <p:grpSpPr>
          <a:xfrm>
            <a:off x="828364" y="3964186"/>
            <a:ext cx="3862906" cy="2219027"/>
            <a:chOff x="7917359" y="1478260"/>
            <a:chExt cx="3582501" cy="1938437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17359" y="1478260"/>
              <a:ext cx="3582501" cy="85090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8084538" y="1787823"/>
              <a:ext cx="185336" cy="231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1</a:t>
              </a:r>
              <a:endParaRPr lang="en-US" sz="14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8500850" y="1614488"/>
              <a:ext cx="2862786" cy="1816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AD8232 ECG Sensor</a:t>
              </a:r>
              <a:endParaRPr lang="en-US" sz="11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8500850" y="1872655"/>
              <a:ext cx="2862786" cy="320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950" dirty="0">
                  <a:solidFill>
                    <a:srgbClr val="3A363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Analog front-end module captures real ECG signal from electrodes and outputs a clean analog waveform</a:t>
              </a:r>
              <a:endParaRPr lang="en-US" sz="95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17359" y="2405658"/>
              <a:ext cx="3582501" cy="1011039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8084538" y="2795290"/>
              <a:ext cx="185336" cy="2316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2</a:t>
              </a:r>
              <a:endParaRPr lang="en-US" sz="145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8500850" y="2541885"/>
              <a:ext cx="2862786" cy="1816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dirty="0">
                  <a:solidFill>
                    <a:srgbClr val="3A363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FPGA Prototyping</a:t>
              </a:r>
              <a:endParaRPr lang="en-US" sz="11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8500850" y="2800052"/>
              <a:ext cx="2862786" cy="480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950" dirty="0">
                  <a:solidFill>
                    <a:srgbClr val="3A363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Verilog RTL design synthesised on an FPGA — a reconfigurable hardware platform used to prototype digital circuits before chip fabrication</a:t>
              </a:r>
              <a:endParaRPr lang="en-US" sz="950" dirty="0"/>
            </a:p>
          </p:txBody>
        </p:sp>
      </p:grp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9984" y="1353938"/>
            <a:ext cx="6019793" cy="40131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051C68-5A45-7222-580E-C477DFAC5277}"/>
              </a:ext>
            </a:extLst>
          </p:cNvPr>
          <p:cNvSpPr/>
          <p:nvPr/>
        </p:nvSpPr>
        <p:spPr>
          <a:xfrm>
            <a:off x="10906125" y="6515100"/>
            <a:ext cx="1200150" cy="26670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1523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Syllabus Alignment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101056"/>
            <a:ext cx="3465525" cy="2432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325886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Module 4 — FIR Filters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2738834"/>
            <a:ext cx="29142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 design theory, windowing methods, and frequency-domain specifications directly applied in the proposed architecture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2101056"/>
            <a:ext cx="3465525" cy="24326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457" y="2325886"/>
            <a:ext cx="29142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Module 5 — DSP Architectures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89457" y="3032125"/>
            <a:ext cx="29142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Pipelined MAC structures, hardware-efficient arithmetic, and trade-offs in fixed-point DSP implementation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7985" y="2101056"/>
            <a:ext cx="3465624" cy="24326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4407" y="2325886"/>
            <a:ext cx="29143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Module 5 — Finite Word Length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54407" y="3032125"/>
            <a:ext cx="29143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Quantisation noise, coefficient truncation effects, and precision-versus-power trade-offs — the theoretical basis for this project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393293" y="4758035"/>
            <a:ext cx="11405108" cy="509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2400" dirty="0" err="1"/>
              <a:t>P</a:t>
            </a:r>
            <a:r>
              <a:rPr lang="en-US" sz="2400" baseline="-25000" dirty="0" err="1"/>
              <a:t>dynamic</a:t>
            </a:r>
            <a:r>
              <a:rPr lang="en-US" sz="2400" dirty="0"/>
              <a:t> = </a:t>
            </a:r>
            <a:r>
              <a:rPr lang="en-US" sz="2400" i="1" dirty="0"/>
              <a:t>αCV</a:t>
            </a:r>
            <a:r>
              <a:rPr lang="en-US" sz="2400" i="1" baseline="30000" dirty="0"/>
              <a:t>2</a:t>
            </a:r>
            <a:r>
              <a:rPr lang="en-US" sz="2400" i="1" dirty="0"/>
              <a:t>f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698086" y="5387578"/>
            <a:ext cx="1140510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bit-truncation aims to reduce switching activity (</a:t>
            </a:r>
            <a:r>
              <a:rPr lang="en-US" sz="125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α 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), thereby lowering dynamic power while maintaining ECG signal quality.</a:t>
            </a:r>
            <a:endParaRPr lang="en-US" sz="12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21834-3A25-9377-0C2E-0D81E1D8CC46}"/>
              </a:ext>
            </a:extLst>
          </p:cNvPr>
          <p:cNvSpPr/>
          <p:nvPr/>
        </p:nvSpPr>
        <p:spPr>
          <a:xfrm>
            <a:off x="10906125" y="6515100"/>
            <a:ext cx="1200150" cy="26670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1762"/>
            <a:ext cx="10795524" cy="40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Timeline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086323" y="1195487"/>
            <a:ext cx="19050" cy="2554188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4" name="Shape 2"/>
          <p:cNvSpPr/>
          <p:nvPr/>
        </p:nvSpPr>
        <p:spPr>
          <a:xfrm>
            <a:off x="5547926" y="1340545"/>
            <a:ext cx="41234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5" name="Shape 3"/>
          <p:cNvSpPr/>
          <p:nvPr/>
        </p:nvSpPr>
        <p:spPr>
          <a:xfrm>
            <a:off x="5941219" y="1195487"/>
            <a:ext cx="309257" cy="309265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6" name="Text 4"/>
          <p:cNvSpPr/>
          <p:nvPr/>
        </p:nvSpPr>
        <p:spPr>
          <a:xfrm>
            <a:off x="5998814" y="1228824"/>
            <a:ext cx="193968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8086" y="1242715"/>
            <a:ext cx="4710590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Weeks 1–2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8086" y="1501577"/>
            <a:ext cx="4710590" cy="61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Phase 1</a:t>
            </a:r>
            <a:endParaRPr lang="en-US" sz="1050" dirty="0"/>
          </a:p>
          <a:p>
            <a:pPr marL="0" indent="0" algn="r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FIR reference model + ECG dataset validation — simulate FIR filter, validate QRS detection, characterise precision requirements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1427" y="2079724"/>
            <a:ext cx="41234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1219" y="1934666"/>
            <a:ext cx="309257" cy="309265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5998814" y="1968004"/>
            <a:ext cx="193968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83019" y="1981895"/>
            <a:ext cx="4710590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Weeks 3–4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83019" y="2240756"/>
            <a:ext cx="4710590" cy="61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Phase 2</a:t>
            </a:r>
            <a:endParaRPr lang="en-US" sz="10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Verilog RTL — implement approximate MAC with dynamic bit-truncation logic and testbench verification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47926" y="2747863"/>
            <a:ext cx="41234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1219" y="2602805"/>
            <a:ext cx="309257" cy="309265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5998814" y="2636143"/>
            <a:ext cx="193968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086" y="2650034"/>
            <a:ext cx="4710590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Weeks 5–6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8086" y="2908895"/>
            <a:ext cx="4710590" cy="61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Phase 3</a:t>
            </a:r>
            <a:endParaRPr lang="en-US" sz="1050" dirty="0"/>
          </a:p>
          <a:p>
            <a:pPr marL="0" indent="0" algn="r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FPGA synthesis, timing, area and power analysis — real ECG signal validation with AD8232 sensor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8086" y="3856137"/>
            <a:ext cx="11405108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8086" y="4183757"/>
            <a:ext cx="10795524" cy="323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Deliverables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8086" y="4649192"/>
            <a:ext cx="10795524" cy="1060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Functional Python model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Verilog RTL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FPGA prototype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 power comparison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ECG demonstration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8086" y="5851922"/>
            <a:ext cx="10795524" cy="40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E65B1B-B022-E69B-01CA-B48290210FA2}"/>
              </a:ext>
            </a:extLst>
          </p:cNvPr>
          <p:cNvSpPr/>
          <p:nvPr/>
        </p:nvSpPr>
        <p:spPr>
          <a:xfrm>
            <a:off x="10906125" y="6515100"/>
            <a:ext cx="1200150" cy="266700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472</Words>
  <Application>Microsoft Office PowerPoint</Application>
  <PresentationFormat>Widescreen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Lora</vt:lpstr>
      <vt:lpstr>Arial</vt:lpstr>
      <vt:lpstr>Source Sans 3 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Divyansh Seth</cp:lastModifiedBy>
  <cp:revision>2</cp:revision>
  <dcterms:created xsi:type="dcterms:W3CDTF">2026-08-03T21:40:29Z</dcterms:created>
  <dcterms:modified xsi:type="dcterms:W3CDTF">2026-08-03T21:53:54Z</dcterms:modified>
</cp:coreProperties>
</file>